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Bitter Bold"/>
      <p:regular r:id="rId201314"/>
    </p:embeddedFont>
    <p:embeddedFont>
      <p:font typeface="Bitter ExtraBold"/>
      <p:regular r:id="rId201315"/>
    </p:embeddedFont>
    <p:embeddedFont>
      <p:font typeface="Public Sans"/>
      <p:regular r:id="rId201316"/>
    </p:embeddedFont>
    <p:embeddedFont>
      <p:font typeface="Public Sans SemiBold"/>
      <p:regular r:id="rId201317"/>
    </p:embeddedFont>
    <p:embeddedFont>
      <p:font typeface="Public Sans 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3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5638659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spc="14" kern="100" dirty="0">
                <a:solidFill>
                  <a:srgbClr val="14284B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IMPACTX 2026 | Challenge 07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189" y="2287032"/>
            <a:ext cx="5181470" cy="1226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600" spc="-46" kern="100" dirty="0">
                <a:solidFill>
                  <a:srgbClr val="14284B"/>
                </a:solidFill>
                <a:latin typeface="Bitter ExtraBold" pitchFamily="34" charset="0"/>
                <a:ea typeface="Bitter ExtraBold" pitchFamily="34" charset="-122"/>
                <a:cs typeface="Bitter ExtraBold" pitchFamily="34" charset="0"/>
              </a:rPr>
              <a:t>A Better Digital Health Journey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457189" y="3653093"/>
            <a:ext cx="518147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000" b="1" dirty="0">
                <a:solidFill>
                  <a:srgbClr val="14284B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Patient-Controlled, Consent-Aware Medical Record Organizer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189" y="5860852"/>
            <a:ext cx="1709695" cy="69751"/>
          </a:xfrm>
          <a:prstGeom prst="roundRect">
            <a:avLst>
              <a:gd name="adj" fmla="val 49999"/>
            </a:avLst>
          </a:prstGeom>
          <a:solidFill>
            <a:srgbClr val="168477"/>
          </a:solidFill>
          <a:ln/>
        </p:spPr>
      </p:sp>
      <p:sp>
        <p:nvSpPr>
          <p:cNvPr id="6" name="Text 4"/>
          <p:cNvSpPr/>
          <p:nvPr/>
        </p:nvSpPr>
        <p:spPr>
          <a:xfrm>
            <a:off x="457189" y="6167557"/>
            <a:ext cx="5638659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ABDM / ABHA Ecosystem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95848" y="0"/>
            <a:ext cx="6095848" cy="6858000"/>
          </a:xfrm>
          <a:prstGeom prst="rect">
            <a:avLst/>
          </a:prstGeom>
          <a:solidFill>
            <a:srgbClr val="DAE5F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640" y="304800"/>
            <a:ext cx="5486263" cy="6248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57509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697" y="457200"/>
            <a:ext cx="8076998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spc="14" kern="100" dirty="0">
                <a:solidFill>
                  <a:srgbClr val="14284B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The burden today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4114697" y="779423"/>
            <a:ext cx="7619809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34" kern="100" dirty="0">
                <a:solidFill>
                  <a:srgbClr val="14284B"/>
                </a:solidFill>
                <a:latin typeface="Bitter ExtraBold" pitchFamily="34" charset="0"/>
                <a:ea typeface="Bitter ExtraBold" pitchFamily="34" charset="-122"/>
                <a:cs typeface="Bitter ExtraBold" pitchFamily="34" charset="0"/>
              </a:rPr>
              <a:t>Health records are scattered, and patients carry the burden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4114697" y="2239070"/>
            <a:ext cx="2438339" cy="743545"/>
          </a:xfrm>
          <a:prstGeom prst="rect">
            <a:avLst/>
          </a:prstGeom>
          <a:solidFill>
            <a:srgbClr val="DAE5F0"/>
          </a:solidFill>
          <a:ln/>
        </p:spPr>
      </p:sp>
      <p:sp>
        <p:nvSpPr>
          <p:cNvPr id="6" name="Shape 3"/>
          <p:cNvSpPr/>
          <p:nvPr/>
        </p:nvSpPr>
        <p:spPr>
          <a:xfrm>
            <a:off x="4114697" y="2239070"/>
            <a:ext cx="2438339" cy="38100"/>
          </a:xfrm>
          <a:prstGeom prst="rect">
            <a:avLst/>
          </a:prstGeom>
          <a:solidFill>
            <a:srgbClr val="14284B"/>
          </a:solidFill>
          <a:ln/>
        </p:spPr>
      </p:sp>
      <p:sp>
        <p:nvSpPr>
          <p:cNvPr id="7" name="Text 4"/>
          <p:cNvSpPr/>
          <p:nvPr/>
        </p:nvSpPr>
        <p:spPr>
          <a:xfrm>
            <a:off x="4343291" y="2510567"/>
            <a:ext cx="198115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Hospitals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705432" y="2239070"/>
            <a:ext cx="2438339" cy="743545"/>
          </a:xfrm>
          <a:prstGeom prst="rect">
            <a:avLst/>
          </a:prstGeom>
          <a:solidFill>
            <a:srgbClr val="DAE5F0"/>
          </a:solidFill>
          <a:ln/>
        </p:spPr>
      </p:sp>
      <p:sp>
        <p:nvSpPr>
          <p:cNvPr id="9" name="Shape 6"/>
          <p:cNvSpPr/>
          <p:nvPr/>
        </p:nvSpPr>
        <p:spPr>
          <a:xfrm>
            <a:off x="6705432" y="2239070"/>
            <a:ext cx="2438339" cy="38100"/>
          </a:xfrm>
          <a:prstGeom prst="rect">
            <a:avLst/>
          </a:prstGeom>
          <a:solidFill>
            <a:srgbClr val="14284B"/>
          </a:solidFill>
          <a:ln/>
        </p:spPr>
      </p:sp>
      <p:sp>
        <p:nvSpPr>
          <p:cNvPr id="10" name="Text 7"/>
          <p:cNvSpPr/>
          <p:nvPr/>
        </p:nvSpPr>
        <p:spPr>
          <a:xfrm>
            <a:off x="6934027" y="2510567"/>
            <a:ext cx="198115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Laboratories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9296167" y="2239070"/>
            <a:ext cx="2438339" cy="743545"/>
          </a:xfrm>
          <a:prstGeom prst="rect">
            <a:avLst/>
          </a:prstGeom>
          <a:solidFill>
            <a:srgbClr val="DAE5F0"/>
          </a:solidFill>
          <a:ln/>
        </p:spPr>
      </p:sp>
      <p:sp>
        <p:nvSpPr>
          <p:cNvPr id="12" name="Shape 9"/>
          <p:cNvSpPr/>
          <p:nvPr/>
        </p:nvSpPr>
        <p:spPr>
          <a:xfrm>
            <a:off x="9296167" y="2239070"/>
            <a:ext cx="2438339" cy="38100"/>
          </a:xfrm>
          <a:prstGeom prst="rect">
            <a:avLst/>
          </a:prstGeom>
          <a:solidFill>
            <a:srgbClr val="14284B"/>
          </a:solidFill>
          <a:ln/>
        </p:spPr>
      </p:sp>
      <p:sp>
        <p:nvSpPr>
          <p:cNvPr id="13" name="Text 10"/>
          <p:cNvSpPr/>
          <p:nvPr/>
        </p:nvSpPr>
        <p:spPr>
          <a:xfrm>
            <a:off x="9524762" y="2510567"/>
            <a:ext cx="198115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Paper documents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3809905" y="3160415"/>
            <a:ext cx="8229394" cy="441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24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↓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4114697" y="3780135"/>
            <a:ext cx="7619809" cy="1547416"/>
          </a:xfrm>
          <a:prstGeom prst="rect">
            <a:avLst/>
          </a:prstGeom>
          <a:solidFill>
            <a:srgbClr val="EAF5F2"/>
          </a:solidFill>
          <a:ln/>
        </p:spPr>
      </p:sp>
      <p:sp>
        <p:nvSpPr>
          <p:cNvPr id="16" name="Text 13"/>
          <p:cNvSpPr/>
          <p:nvPr/>
        </p:nvSpPr>
        <p:spPr>
          <a:xfrm>
            <a:off x="4343291" y="4015203"/>
            <a:ext cx="7162621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Bitter Bold" pitchFamily="34" charset="0"/>
                <a:ea typeface="Bitter Bold" pitchFamily="34" charset="-122"/>
                <a:cs typeface="Bitter Bold" pitchFamily="34" charset="0"/>
              </a:rPr>
              <a:t>One fragmented patient record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4343291" y="4475579"/>
            <a:ext cx="7162621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Across cities: duplicate reports, conflicting dates, uncertain prescription text and fragmented histories.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4114697" y="5508049"/>
            <a:ext cx="8076998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Consent and sharing permissions are hard for patients to understand.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spc="14" kern="100" dirty="0">
                <a:solidFill>
                  <a:srgbClr val="14284B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Synthetic patient journey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189" y="783931"/>
            <a:ext cx="11277318" cy="5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800" spc="-38" kern="100" dirty="0">
                <a:solidFill>
                  <a:srgbClr val="14284B"/>
                </a:solidFill>
                <a:latin typeface="Bitter ExtraBold" pitchFamily="34" charset="0"/>
                <a:ea typeface="Bitter ExtraBold" pitchFamily="34" charset="-122"/>
                <a:cs typeface="Bitter ExtraBold" pitchFamily="34" charset="0"/>
              </a:rPr>
              <a:t>One patient, three providers, two cities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189" y="1415951"/>
            <a:ext cx="3606710" cy="2260402"/>
          </a:xfrm>
          <a:prstGeom prst="rect">
            <a:avLst/>
          </a:prstGeom>
          <a:solidFill>
            <a:srgbClr val="DAE5F0"/>
          </a:solidFill>
          <a:ln/>
        </p:spPr>
      </p:sp>
      <p:sp>
        <p:nvSpPr>
          <p:cNvPr id="5" name="Text 3"/>
          <p:cNvSpPr/>
          <p:nvPr/>
        </p:nvSpPr>
        <p:spPr>
          <a:xfrm>
            <a:off x="660383" y="1619151"/>
            <a:ext cx="835897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0"/>
              </a:rPr>
              <a:t>01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189" y="1921371"/>
            <a:ext cx="3606710" cy="19050"/>
          </a:xfrm>
          <a:prstGeom prst="rect">
            <a:avLst/>
          </a:prstGeom>
          <a:solidFill>
            <a:srgbClr val="14284B"/>
          </a:solidFill>
          <a:ln/>
        </p:spPr>
      </p:sp>
      <p:sp>
        <p:nvSpPr>
          <p:cNvPr id="7" name="Text 5"/>
          <p:cNvSpPr/>
          <p:nvPr/>
        </p:nvSpPr>
        <p:spPr>
          <a:xfrm>
            <a:off x="660383" y="2076370"/>
            <a:ext cx="3200320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Bitter Bold" pitchFamily="34" charset="0"/>
                <a:ea typeface="Bitter Bold" pitchFamily="34" charset="-122"/>
                <a:cs typeface="Bitter Bold" pitchFamily="34" charset="0"/>
              </a:rPr>
              <a:t>Conflicting reports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60383" y="2536746"/>
            <a:ext cx="3200320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Two reports for the same test show different dates; one is a re-uploaded scan.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68691" y="1415951"/>
            <a:ext cx="3454314" cy="2260402"/>
          </a:xfrm>
          <a:prstGeom prst="rect">
            <a:avLst/>
          </a:prstGeom>
          <a:solidFill>
            <a:srgbClr val="DAE5F0"/>
          </a:solidFill>
          <a:ln/>
        </p:spPr>
      </p:sp>
      <p:sp>
        <p:nvSpPr>
          <p:cNvPr id="10" name="Text 8"/>
          <p:cNvSpPr/>
          <p:nvPr/>
        </p:nvSpPr>
        <p:spPr>
          <a:xfrm>
            <a:off x="4571886" y="1619151"/>
            <a:ext cx="87885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0"/>
              </a:rPr>
              <a:t>02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368691" y="1921371"/>
            <a:ext cx="3454314" cy="19050"/>
          </a:xfrm>
          <a:prstGeom prst="rect">
            <a:avLst/>
          </a:prstGeom>
          <a:solidFill>
            <a:srgbClr val="14284B"/>
          </a:solidFill>
          <a:ln/>
        </p:spPr>
      </p:sp>
      <p:sp>
        <p:nvSpPr>
          <p:cNvPr id="12" name="Text 10"/>
          <p:cNvSpPr/>
          <p:nvPr/>
        </p:nvSpPr>
        <p:spPr>
          <a:xfrm>
            <a:off x="4571886" y="2076370"/>
            <a:ext cx="3047924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Bitter Bold" pitchFamily="34" charset="0"/>
                <a:ea typeface="Bitter Bold" pitchFamily="34" charset="-122"/>
                <a:cs typeface="Bitter Bold" pitchFamily="34" charset="0"/>
              </a:rPr>
              <a:t>Uncertain dosage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1886" y="2536746"/>
            <a:ext cx="3047924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A handwritten prescription has an uncertain OCR dosage.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127797" y="1415951"/>
            <a:ext cx="3606710" cy="2260402"/>
          </a:xfrm>
          <a:prstGeom prst="rect">
            <a:avLst/>
          </a:prstGeom>
          <a:solidFill>
            <a:srgbClr val="DAE5F0"/>
          </a:solidFill>
          <a:ln/>
        </p:spPr>
      </p:sp>
      <p:sp>
        <p:nvSpPr>
          <p:cNvPr id="15" name="Text 13"/>
          <p:cNvSpPr/>
          <p:nvPr/>
        </p:nvSpPr>
        <p:spPr>
          <a:xfrm>
            <a:off x="8330992" y="1619151"/>
            <a:ext cx="88471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0"/>
              </a:rPr>
              <a:t>03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127797" y="1921371"/>
            <a:ext cx="3606710" cy="19050"/>
          </a:xfrm>
          <a:prstGeom prst="rect">
            <a:avLst/>
          </a:prstGeom>
          <a:solidFill>
            <a:srgbClr val="14284B"/>
          </a:solidFill>
          <a:ln/>
        </p:spPr>
      </p:sp>
      <p:sp>
        <p:nvSpPr>
          <p:cNvPr id="17" name="Text 15"/>
          <p:cNvSpPr/>
          <p:nvPr/>
        </p:nvSpPr>
        <p:spPr>
          <a:xfrm>
            <a:off x="8330992" y="2076370"/>
            <a:ext cx="3200320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Bitter Bold" pitchFamily="34" charset="0"/>
                <a:ea typeface="Bitter Bold" pitchFamily="34" charset="-122"/>
                <a:cs typeface="Bitter Bold" pitchFamily="34" charset="0"/>
              </a:rPr>
              <a:t>Time-bound sharing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330992" y="2536746"/>
            <a:ext cx="3200320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Records shared with a specialist for seven days, then revoked.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457189" y="3981152"/>
            <a:ext cx="3606710" cy="2260402"/>
          </a:xfrm>
          <a:prstGeom prst="rect">
            <a:avLst/>
          </a:prstGeom>
          <a:solidFill>
            <a:srgbClr val="DAE5F0"/>
          </a:solidFill>
          <a:ln/>
        </p:spPr>
      </p:sp>
      <p:sp>
        <p:nvSpPr>
          <p:cNvPr id="20" name="Text 18"/>
          <p:cNvSpPr/>
          <p:nvPr/>
        </p:nvSpPr>
        <p:spPr>
          <a:xfrm>
            <a:off x="660383" y="4184352"/>
            <a:ext cx="88391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0"/>
              </a:rPr>
              <a:t>04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57189" y="4486573"/>
            <a:ext cx="3606710" cy="19050"/>
          </a:xfrm>
          <a:prstGeom prst="rect">
            <a:avLst/>
          </a:prstGeom>
          <a:solidFill>
            <a:srgbClr val="14284B"/>
          </a:solidFill>
          <a:ln/>
        </p:spPr>
      </p:sp>
      <p:sp>
        <p:nvSpPr>
          <p:cNvPr id="22" name="Text 20"/>
          <p:cNvSpPr/>
          <p:nvPr/>
        </p:nvSpPr>
        <p:spPr>
          <a:xfrm>
            <a:off x="660383" y="4641571"/>
            <a:ext cx="3200320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Bitter Bold" pitchFamily="34" charset="0"/>
                <a:ea typeface="Bitter Bold" pitchFamily="34" charset="-122"/>
                <a:cs typeface="Bitter Bold" pitchFamily="34" charset="0"/>
              </a:rPr>
              <a:t>Caregiver permissions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60383" y="5101947"/>
            <a:ext cx="3200320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An older relative holds limited caregiver permissions.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4368691" y="3981152"/>
            <a:ext cx="3454314" cy="2260402"/>
          </a:xfrm>
          <a:prstGeom prst="rect">
            <a:avLst/>
          </a:prstGeom>
          <a:solidFill>
            <a:srgbClr val="DAE5F0"/>
          </a:solidFill>
          <a:ln/>
        </p:spPr>
      </p:sp>
      <p:sp>
        <p:nvSpPr>
          <p:cNvPr id="25" name="Text 23"/>
          <p:cNvSpPr/>
          <p:nvPr/>
        </p:nvSpPr>
        <p:spPr>
          <a:xfrm>
            <a:off x="4571886" y="4184352"/>
            <a:ext cx="887787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0"/>
              </a:rPr>
              <a:t>05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4368691" y="4486573"/>
            <a:ext cx="3454314" cy="19050"/>
          </a:xfrm>
          <a:prstGeom prst="rect">
            <a:avLst/>
          </a:prstGeom>
          <a:solidFill>
            <a:srgbClr val="14284B"/>
          </a:solidFill>
          <a:ln/>
        </p:spPr>
      </p:sp>
      <p:sp>
        <p:nvSpPr>
          <p:cNvPr id="27" name="Text 25"/>
          <p:cNvSpPr/>
          <p:nvPr/>
        </p:nvSpPr>
        <p:spPr>
          <a:xfrm>
            <a:off x="4571886" y="4641571"/>
            <a:ext cx="3047924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Bitter Bold" pitchFamily="34" charset="0"/>
                <a:ea typeface="Bitter Bold" pitchFamily="34" charset="-122"/>
                <a:cs typeface="Bitter Bold" pitchFamily="34" charset="0"/>
              </a:rPr>
              <a:t>Emergency request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571886" y="5101947"/>
            <a:ext cx="3047924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A hospital requests emergency access while the patient is unconscious.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8127797" y="3981152"/>
            <a:ext cx="3606710" cy="2260402"/>
          </a:xfrm>
          <a:prstGeom prst="rect">
            <a:avLst/>
          </a:prstGeom>
          <a:solidFill>
            <a:srgbClr val="DAE5F0"/>
          </a:solidFill>
          <a:ln/>
        </p:spPr>
      </p:sp>
      <p:sp>
        <p:nvSpPr>
          <p:cNvPr id="30" name="Text 28"/>
          <p:cNvSpPr/>
          <p:nvPr/>
        </p:nvSpPr>
        <p:spPr>
          <a:xfrm>
            <a:off x="8330992" y="4184352"/>
            <a:ext cx="883422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0"/>
              </a:rPr>
              <a:t>06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8127797" y="4486573"/>
            <a:ext cx="3606710" cy="19050"/>
          </a:xfrm>
          <a:prstGeom prst="rect">
            <a:avLst/>
          </a:prstGeom>
          <a:solidFill>
            <a:srgbClr val="14284B"/>
          </a:solidFill>
          <a:ln/>
        </p:spPr>
      </p:sp>
      <p:sp>
        <p:nvSpPr>
          <p:cNvPr id="32" name="Text 30"/>
          <p:cNvSpPr/>
          <p:nvPr/>
        </p:nvSpPr>
        <p:spPr>
          <a:xfrm>
            <a:off x="8330992" y="4641571"/>
            <a:ext cx="3200320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Bitter Bold" pitchFamily="34" charset="0"/>
                <a:ea typeface="Bitter Bold" pitchFamily="34" charset="-122"/>
                <a:cs typeface="Bitter Bold" pitchFamily="34" charset="0"/>
              </a:rPr>
              <a:t>Provider correction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8330992" y="5101947"/>
            <a:ext cx="3200320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A provider later corrects an already shared report.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spc="14" kern="100" dirty="0">
                <a:solidFill>
                  <a:srgbClr val="14284B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The organizer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189" y="779423"/>
            <a:ext cx="11277318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34" kern="100" dirty="0">
                <a:solidFill>
                  <a:srgbClr val="14284B"/>
                </a:solidFill>
                <a:latin typeface="Bitter ExtraBold" pitchFamily="34" charset="0"/>
                <a:ea typeface="Bitter ExtraBold" pitchFamily="34" charset="-122"/>
                <a:cs typeface="Bitter ExtraBold" pitchFamily="34" charset="0"/>
              </a:rPr>
              <a:t>A patient-controlled organizer with one longitudinal timeline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189" y="1856105"/>
            <a:ext cx="11734506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Original records and their sources stay intact.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189" y="2344241"/>
            <a:ext cx="7315017" cy="4056559"/>
          </a:xfrm>
          <a:prstGeom prst="rect">
            <a:avLst/>
          </a:prstGeom>
          <a:solidFill>
            <a:srgbClr val="DAE5F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984" y="2522041"/>
            <a:ext cx="6959426" cy="33815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4984" y="5989657"/>
            <a:ext cx="7137221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Prototype dashboard · Synthetic data</a:t>
            </a:r>
            <a:endParaRPr lang="en-US" sz="1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998" y="2344202"/>
            <a:ext cx="431789" cy="431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724682" y="2349039"/>
            <a:ext cx="3009825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700" b="1" dirty="0">
                <a:solidFill>
                  <a:srgbClr val="14284B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Patient control</a:t>
            </a:r>
            <a:endParaRPr lang="en-US" sz="17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6998" y="3197284"/>
            <a:ext cx="431789" cy="4318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724682" y="3202122"/>
            <a:ext cx="3009825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700" b="1" dirty="0">
                <a:solidFill>
                  <a:srgbClr val="14284B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Transparent provenance</a:t>
            </a:r>
            <a:endParaRPr lang="en-US" sz="17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6998" y="4050367"/>
            <a:ext cx="431789" cy="4318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724682" y="4055205"/>
            <a:ext cx="3009825" cy="496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700" b="1" dirty="0">
                <a:solidFill>
                  <a:srgbClr val="14284B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Explainable conflict detection</a:t>
            </a:r>
            <a:endParaRPr lang="en-US" sz="17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6998" y="5151696"/>
            <a:ext cx="431789" cy="4318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724682" y="5156533"/>
            <a:ext cx="3009825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700" b="1" dirty="0">
                <a:solidFill>
                  <a:srgbClr val="14284B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Explicit consent</a:t>
            </a:r>
            <a:endParaRPr lang="en-US" sz="17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6998" y="6004778"/>
            <a:ext cx="431789" cy="4318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8724682" y="6009616"/>
            <a:ext cx="3009825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700" b="1" dirty="0">
                <a:solidFill>
                  <a:srgbClr val="14284B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Non-diagnostic assistance</a:t>
            </a:r>
            <a:endParaRPr lang="en-US" sz="1700" dirty="0"/>
          </a:p>
        </p:txBody>
      </p:sp>
      <p:sp>
        <p:nvSpPr>
          <p:cNvPr id="18" name="Shape 10"/>
          <p:cNvSpPr/>
          <p:nvPr/>
        </p:nvSpPr>
        <p:spPr>
          <a:xfrm>
            <a:off x="8076998" y="2962374"/>
            <a:ext cx="3657509" cy="12700"/>
          </a:xfrm>
          <a:prstGeom prst="rect">
            <a:avLst/>
          </a:prstGeom>
          <a:solidFill>
            <a:srgbClr val="AEB9C4"/>
          </a:solidFill>
          <a:ln/>
        </p:spPr>
      </p:sp>
      <p:sp>
        <p:nvSpPr>
          <p:cNvPr id="19" name="Shape 11"/>
          <p:cNvSpPr/>
          <p:nvPr/>
        </p:nvSpPr>
        <p:spPr>
          <a:xfrm>
            <a:off x="8076998" y="3815457"/>
            <a:ext cx="3657509" cy="12700"/>
          </a:xfrm>
          <a:prstGeom prst="rect">
            <a:avLst/>
          </a:prstGeom>
          <a:solidFill>
            <a:srgbClr val="AEB9C4"/>
          </a:solidFill>
          <a:ln/>
        </p:spPr>
      </p:sp>
      <p:sp>
        <p:nvSpPr>
          <p:cNvPr id="20" name="Shape 12"/>
          <p:cNvSpPr/>
          <p:nvPr/>
        </p:nvSpPr>
        <p:spPr>
          <a:xfrm>
            <a:off x="8076998" y="4916785"/>
            <a:ext cx="3657509" cy="12700"/>
          </a:xfrm>
          <a:prstGeom prst="rect">
            <a:avLst/>
          </a:prstGeom>
          <a:solidFill>
            <a:srgbClr val="AEB9C4"/>
          </a:solidFill>
          <a:ln/>
        </p:spPr>
      </p:sp>
      <p:sp>
        <p:nvSpPr>
          <p:cNvPr id="21" name="Shape 13"/>
          <p:cNvSpPr/>
          <p:nvPr/>
        </p:nvSpPr>
        <p:spPr>
          <a:xfrm>
            <a:off x="8076998" y="5769868"/>
            <a:ext cx="3657509" cy="12700"/>
          </a:xfrm>
          <a:prstGeom prst="rect">
            <a:avLst/>
          </a:prstGeom>
          <a:solidFill>
            <a:srgbClr val="AEB9C4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spc="14" kern="100" dirty="0">
                <a:solidFill>
                  <a:srgbClr val="14284B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Synthetic comparison · Original evidence preserved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189" y="779834"/>
            <a:ext cx="11277318" cy="853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200" spc="-32" kern="100" dirty="0">
                <a:solidFill>
                  <a:srgbClr val="14284B"/>
                </a:solidFill>
                <a:latin typeface="Bitter ExtraBold" pitchFamily="34" charset="0"/>
                <a:ea typeface="Bitter ExtraBold" pitchFamily="34" charset="-122"/>
                <a:cs typeface="Bitter ExtraBold" pitchFamily="34" charset="0"/>
              </a:rPr>
              <a:t>Provenance-aware timeline flags conflicts, never resolves them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189" y="1800027"/>
            <a:ext cx="5486263" cy="4609108"/>
          </a:xfrm>
          <a:prstGeom prst="rect">
            <a:avLst/>
          </a:prstGeom>
          <a:solidFill>
            <a:srgbClr val="DAE5F0"/>
          </a:solidFill>
          <a:ln/>
        </p:spPr>
      </p:sp>
      <p:sp>
        <p:nvSpPr>
          <p:cNvPr id="5" name="Shape 3"/>
          <p:cNvSpPr/>
          <p:nvPr/>
        </p:nvSpPr>
        <p:spPr>
          <a:xfrm>
            <a:off x="457189" y="1800027"/>
            <a:ext cx="5486263" cy="38100"/>
          </a:xfrm>
          <a:prstGeom prst="rect">
            <a:avLst/>
          </a:prstGeom>
          <a:solidFill>
            <a:srgbClr val="14284B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1996995"/>
            <a:ext cx="5181470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Bitter Bold" pitchFamily="34" charset="0"/>
                <a:ea typeface="Bitter Bold" pitchFamily="34" charset="-122"/>
                <a:cs typeface="Bitter Bold" pitchFamily="34" charset="0"/>
              </a:rPr>
              <a:t>Separate dates. Visible sources.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09585" y="2454672"/>
            <a:ext cx="518147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Every item names its provider and original source. Separate event date, report date and upload date.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3121422"/>
          <a:ext cx="5181470" cy="914400"/>
        </p:xfrm>
        <a:graphic>
          <a:graphicData uri="http://schemas.openxmlformats.org/drawingml/2006/table">
            <a:tbl>
              <a:tblPr/>
              <a:tblGrid>
                <a:gridCol w="2331582"/>
                <a:gridCol w="1424845"/>
                <a:gridCol w="1425043"/>
              </a:tblGrid>
              <a:tr h="4983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0"/>
                        </a:rPr>
                        <a:t>Lab reports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DA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5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0"/>
                        </a:rPr>
                        <a:t>Original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DA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5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0"/>
                        </a:rPr>
                        <a:t>Re-scan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DA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5F0"/>
                    </a:solidFill>
                  </a:tcPr>
                </a:tc>
              </a:tr>
              <a:tr h="4983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0"/>
                        </a:rPr>
                        <a:t>Provider / source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DA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5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0"/>
                        </a:rPr>
                        <a:t>Shown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DA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5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0"/>
                        </a:rPr>
                        <a:t>Shown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DA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5F0"/>
                    </a:solidFill>
                  </a:tcPr>
                </a:tc>
              </a:tr>
              <a:tr h="4983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0"/>
                        </a:rPr>
                        <a:t>Event date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DA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5F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0"/>
                        </a:rPr>
                        <a:t>Both shown and flagged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DA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5F0"/>
                    </a:solidFill>
                  </a:tcPr>
                </a:tc>
                <a:tc hMerge="1">
                  <a:tcPr/>
                </a:tc>
              </a:tr>
              <a:tr h="7986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0"/>
                        </a:rPr>
                        <a:t>Report / upload dates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DA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5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0"/>
                        </a:rPr>
                        <a:t>Separate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DA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5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0"/>
                        </a:rPr>
                        <a:t>Separate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DA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5F0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09585" y="5529560"/>
            <a:ext cx="1334856" cy="336649"/>
          </a:xfrm>
          <a:prstGeom prst="roundRect">
            <a:avLst>
              <a:gd name="adj" fmla="val 3395"/>
            </a:avLst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9062" y="5604347"/>
            <a:ext cx="1685486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spc="14" kern="100" dirty="0">
                <a:solidFill>
                  <a:srgbClr val="000000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Date conflict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09585" y="5980509"/>
            <a:ext cx="5333867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Original stays retrievable.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248244" y="1800027"/>
            <a:ext cx="5486263" cy="4609108"/>
          </a:xfrm>
          <a:prstGeom prst="rect">
            <a:avLst/>
          </a:prstGeom>
          <a:solidFill>
            <a:srgbClr val="EAF5F2"/>
          </a:solidFill>
          <a:ln/>
        </p:spPr>
      </p:sp>
      <p:sp>
        <p:nvSpPr>
          <p:cNvPr id="13" name="Shape 10"/>
          <p:cNvSpPr/>
          <p:nvPr/>
        </p:nvSpPr>
        <p:spPr>
          <a:xfrm>
            <a:off x="6248244" y="1800027"/>
            <a:ext cx="5486263" cy="38100"/>
          </a:xfrm>
          <a:prstGeom prst="rect">
            <a:avLst/>
          </a:prstGeom>
          <a:solidFill>
            <a:srgbClr val="14284B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640" y="1996995"/>
            <a:ext cx="5181470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Bitter Bold" pitchFamily="34" charset="0"/>
                <a:ea typeface="Bitter Bold" pitchFamily="34" charset="-122"/>
                <a:cs typeface="Bitter Bold" pitchFamily="34" charset="0"/>
              </a:rPr>
              <a:t>Duplicates and medication differences become questions, not merges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400640" y="2775942"/>
            <a:ext cx="5181470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Document hashes, text similarity and image similarity catch exact and near-duplicates, including re-scans. Reasons for a suspected match are displayed.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400640" y="3718917"/>
            <a:ext cx="5181470" cy="972145"/>
          </a:xfrm>
          <a:prstGeom prst="rect">
            <a:avLst/>
          </a:prstGeom>
          <a:solidFill>
            <a:srgbClr val="FFF3B8"/>
          </a:solidFill>
          <a:ln/>
        </p:spPr>
      </p:sp>
      <p:sp>
        <p:nvSpPr>
          <p:cNvPr id="17" name="Text 14"/>
          <p:cNvSpPr/>
          <p:nvPr/>
        </p:nvSpPr>
        <p:spPr>
          <a:xfrm>
            <a:off x="6553036" y="3876115"/>
            <a:ext cx="4876678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700" b="1" dirty="0">
                <a:solidFill>
                  <a:srgbClr val="14284B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Keep both and link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6553036" y="4262438"/>
            <a:ext cx="5029074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User chooses; nothing is silently merged or deleted.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400640" y="4873660"/>
            <a:ext cx="518147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Medication discrepancy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6400640" y="5259983"/>
            <a:ext cx="518147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Prescription differences are flagged as questions for a clinician, with no medication advice.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spc="14" kern="100" dirty="0">
                <a:solidFill>
                  <a:srgbClr val="14284B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Consent · Synthetic example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189" y="782280"/>
            <a:ext cx="11277318" cy="48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600" spc="-36" kern="100" dirty="0">
                <a:solidFill>
                  <a:srgbClr val="14284B"/>
                </a:solidFill>
                <a:latin typeface="Bitter ExtraBold" pitchFamily="34" charset="0"/>
                <a:ea typeface="Bitter ExtraBold" pitchFamily="34" charset="-122"/>
                <a:cs typeface="Bitter ExtraBold" pitchFamily="34" charset="0"/>
              </a:rPr>
              <a:t>Consent that is granular, readable and revocable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189" y="1426766"/>
            <a:ext cx="5486263" cy="4974034"/>
          </a:xfrm>
          <a:prstGeom prst="rect">
            <a:avLst/>
          </a:prstGeom>
          <a:solidFill>
            <a:srgbClr val="DAE5F0"/>
          </a:solidFill>
          <a:ln/>
        </p:spPr>
      </p:sp>
      <p:sp>
        <p:nvSpPr>
          <p:cNvPr id="5" name="Shape 3"/>
          <p:cNvSpPr/>
          <p:nvPr/>
        </p:nvSpPr>
        <p:spPr>
          <a:xfrm>
            <a:off x="457189" y="1426766"/>
            <a:ext cx="5486263" cy="38100"/>
          </a:xfrm>
          <a:prstGeom prst="rect">
            <a:avLst/>
          </a:prstGeom>
          <a:solidFill>
            <a:srgbClr val="14284B"/>
          </a:solidFill>
          <a:ln/>
        </p:spPr>
      </p:sp>
      <p:sp>
        <p:nvSpPr>
          <p:cNvPr id="6" name="Text 4"/>
          <p:cNvSpPr/>
          <p:nvPr/>
        </p:nvSpPr>
        <p:spPr>
          <a:xfrm>
            <a:off x="685783" y="1699934"/>
            <a:ext cx="5029074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Bitter Bold" pitchFamily="34" charset="0"/>
                <a:ea typeface="Bitter Bold" pitchFamily="34" charset="-122"/>
                <a:cs typeface="Bitter Bold" pitchFamily="34" charset="0"/>
              </a:rPr>
              <a:t>Plain-language consent receipt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783" y="2157611"/>
          <a:ext cx="5029074" cy="914400"/>
        </p:xfrm>
        <a:graphic>
          <a:graphicData uri="http://schemas.openxmlformats.org/drawingml/2006/table">
            <a:tbl>
              <a:tblPr/>
              <a:tblGrid>
                <a:gridCol w="1760097"/>
                <a:gridCol w="3268978"/>
              </a:tblGrid>
              <a:tr h="4983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0"/>
                        </a:rPr>
                        <a:t>Permission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DA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5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0"/>
                        </a:rPr>
                        <a:t>Selected scope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DA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5F0"/>
                    </a:solidFill>
                  </a:tcPr>
                </a:tc>
              </a:tr>
              <a:tr h="811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0"/>
                        </a:rPr>
                        <a:t>Record / category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DA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5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0"/>
                        </a:rPr>
                        <a:t>Selected records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DA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5F0"/>
                    </a:solidFill>
                  </a:tcPr>
                </a:tc>
              </a:tr>
              <a:tr h="4983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0"/>
                        </a:rPr>
                        <a:t>Recipient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DA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5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0"/>
                        </a:rPr>
                        <a:t>Specialist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DA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5F0"/>
                    </a:solidFill>
                  </a:tcPr>
                </a:tc>
              </a:tr>
              <a:tr h="4983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0"/>
                        </a:rPr>
                        <a:t>Purpose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DA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5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0"/>
                        </a:rPr>
                        <a:t>Explicitly scoped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DA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5F0"/>
                    </a:solidFill>
                  </a:tcPr>
                </a:tc>
              </a:tr>
              <a:tr h="4856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0"/>
                        </a:rPr>
                        <a:t>Time window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DA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5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0"/>
                        </a:rPr>
                        <a:t>Seven days</a:t>
                      </a:r>
                      <a:endParaRPr lang="en-US" sz="17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DA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5F0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85783" y="5070793"/>
            <a:ext cx="5257668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Patient-visible access log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48244" y="1426766"/>
            <a:ext cx="5486263" cy="4974034"/>
          </a:xfrm>
          <a:prstGeom prst="rect">
            <a:avLst/>
          </a:prstGeom>
          <a:solidFill>
            <a:srgbClr val="EAF5F2"/>
          </a:solidFill>
          <a:ln/>
        </p:spPr>
      </p:sp>
      <p:sp>
        <p:nvSpPr>
          <p:cNvPr id="10" name="Shape 7"/>
          <p:cNvSpPr/>
          <p:nvPr/>
        </p:nvSpPr>
        <p:spPr>
          <a:xfrm>
            <a:off x="6248244" y="1426766"/>
            <a:ext cx="5486263" cy="38100"/>
          </a:xfrm>
          <a:prstGeom prst="rect">
            <a:avLst/>
          </a:prstGeom>
          <a:solidFill>
            <a:srgbClr val="14284B"/>
          </a:solidFill>
          <a:ln/>
        </p:spPr>
      </p:sp>
      <p:sp>
        <p:nvSpPr>
          <p:cNvPr id="11" name="Text 8"/>
          <p:cNvSpPr/>
          <p:nvPr/>
        </p:nvSpPr>
        <p:spPr>
          <a:xfrm>
            <a:off x="6476838" y="1693466"/>
            <a:ext cx="835897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0"/>
              </a:rPr>
              <a:t>01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476838" y="1995686"/>
            <a:ext cx="2362141" cy="19050"/>
          </a:xfrm>
          <a:prstGeom prst="rect">
            <a:avLst/>
          </a:prstGeom>
          <a:solidFill>
            <a:srgbClr val="14284B"/>
          </a:solidFill>
          <a:ln/>
        </p:spPr>
      </p:sp>
      <p:sp>
        <p:nvSpPr>
          <p:cNvPr id="13" name="Text 10"/>
          <p:cNvSpPr/>
          <p:nvPr/>
        </p:nvSpPr>
        <p:spPr>
          <a:xfrm>
            <a:off x="6476838" y="2149014"/>
            <a:ext cx="2362141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Seven-day access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476838" y="2538035"/>
            <a:ext cx="2362141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Selected records shared with a specialist.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9143771" y="1693466"/>
            <a:ext cx="87885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0"/>
              </a:rPr>
              <a:t>02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9143771" y="1995686"/>
            <a:ext cx="2362141" cy="19050"/>
          </a:xfrm>
          <a:prstGeom prst="rect">
            <a:avLst/>
          </a:prstGeom>
          <a:solidFill>
            <a:srgbClr val="14284B"/>
          </a:solidFill>
          <a:ln/>
        </p:spPr>
      </p:sp>
      <p:sp>
        <p:nvSpPr>
          <p:cNvPr id="17" name="Text 14"/>
          <p:cNvSpPr/>
          <p:nvPr/>
        </p:nvSpPr>
        <p:spPr>
          <a:xfrm>
            <a:off x="9143771" y="2149014"/>
            <a:ext cx="2362141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Revoked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9143771" y="2538035"/>
            <a:ext cx="2362141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Future access through the app is blocked.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6476838" y="4557633"/>
            <a:ext cx="5029074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Revocation cannot guarantee deletion of copies already retained.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6476838" y="5347692"/>
            <a:ext cx="5029074" cy="31651"/>
          </a:xfrm>
          <a:prstGeom prst="roundRect">
            <a:avLst>
              <a:gd name="adj" fmla="val 49998"/>
            </a:avLst>
          </a:prstGeom>
          <a:solidFill>
            <a:srgbClr val="168477"/>
          </a:solidFill>
          <a:ln/>
        </p:spPr>
      </p:sp>
      <p:sp>
        <p:nvSpPr>
          <p:cNvPr id="21" name="Text 18"/>
          <p:cNvSpPr/>
          <p:nvPr/>
        </p:nvSpPr>
        <p:spPr>
          <a:xfrm>
            <a:off x="6476838" y="5548828"/>
            <a:ext cx="5029074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Sensitive categories are excluded from shared views and notifications by default.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spc="14" kern="100" dirty="0">
                <a:solidFill>
                  <a:srgbClr val="14284B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Accountable access · Synthetic workflows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189" y="779834"/>
            <a:ext cx="11277318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200" spc="-32" kern="100" dirty="0">
                <a:solidFill>
                  <a:srgbClr val="14284B"/>
                </a:solidFill>
                <a:latin typeface="Bitter ExtraBold" pitchFamily="34" charset="0"/>
                <a:ea typeface="Bitter ExtraBold" pitchFamily="34" charset="-122"/>
                <a:cs typeface="Bitter ExtraBold" pitchFamily="34" charset="0"/>
              </a:rPr>
              <a:t>Caregiver and emergency access with full accountability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189" y="1373386"/>
            <a:ext cx="5486263" cy="2127845"/>
          </a:xfrm>
          <a:prstGeom prst="rect">
            <a:avLst/>
          </a:prstGeom>
          <a:solidFill>
            <a:srgbClr val="DAE5F0"/>
          </a:solidFill>
          <a:ln/>
        </p:spPr>
      </p:sp>
      <p:sp>
        <p:nvSpPr>
          <p:cNvPr id="5" name="Shape 3"/>
          <p:cNvSpPr/>
          <p:nvPr/>
        </p:nvSpPr>
        <p:spPr>
          <a:xfrm>
            <a:off x="457189" y="1373386"/>
            <a:ext cx="5486263" cy="38100"/>
          </a:xfrm>
          <a:prstGeom prst="rect">
            <a:avLst/>
          </a:prstGeom>
          <a:solidFill>
            <a:srgbClr val="14284B"/>
          </a:solidFill>
          <a:ln/>
        </p:spPr>
      </p:sp>
      <p:sp>
        <p:nvSpPr>
          <p:cNvPr id="6" name="Text 4"/>
          <p:cNvSpPr/>
          <p:nvPr/>
        </p:nvSpPr>
        <p:spPr>
          <a:xfrm>
            <a:off x="660383" y="1621154"/>
            <a:ext cx="5079873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Bitter Bold" pitchFamily="34" charset="0"/>
                <a:ea typeface="Bitter Bold" pitchFamily="34" charset="-122"/>
                <a:cs typeface="Bitter Bold" pitchFamily="34" charset="0"/>
              </a:rPr>
              <a:t>Caregiver permissions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60383" y="2078831"/>
            <a:ext cx="507987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Scoped caregiver delegation; caregiver actions visible to the patient. Extra confirmation for sensitive records.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48244" y="1373386"/>
            <a:ext cx="5486263" cy="2127845"/>
          </a:xfrm>
          <a:prstGeom prst="rect">
            <a:avLst/>
          </a:prstGeom>
          <a:solidFill>
            <a:srgbClr val="EAF5F2"/>
          </a:solidFill>
          <a:ln/>
        </p:spPr>
      </p:sp>
      <p:sp>
        <p:nvSpPr>
          <p:cNvPr id="9" name="Shape 7"/>
          <p:cNvSpPr/>
          <p:nvPr/>
        </p:nvSpPr>
        <p:spPr>
          <a:xfrm>
            <a:off x="6248244" y="1373386"/>
            <a:ext cx="5486263" cy="38100"/>
          </a:xfrm>
          <a:prstGeom prst="rect">
            <a:avLst/>
          </a:prstGeom>
          <a:solidFill>
            <a:srgbClr val="14284B"/>
          </a:solidFill>
          <a:ln/>
        </p:spPr>
      </p:sp>
      <p:sp>
        <p:nvSpPr>
          <p:cNvPr id="10" name="Text 8"/>
          <p:cNvSpPr/>
          <p:nvPr/>
        </p:nvSpPr>
        <p:spPr>
          <a:xfrm>
            <a:off x="6451439" y="1621154"/>
            <a:ext cx="5079873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Bitter Bold" pitchFamily="34" charset="0"/>
                <a:ea typeface="Bitter Bold" pitchFamily="34" charset="-122"/>
                <a:cs typeface="Bitter Bold" pitchFamily="34" charset="0"/>
              </a:rPr>
              <a:t>Simulated break-glass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51439" y="2078831"/>
            <a:ext cx="5079873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Authenticated user → predefined authorization → restricted records → time limit → stated reason.</a:t>
            </a:r>
            <a:endParaRPr lang="en-US" sz="15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Comprehensive audit log and follow-up patient notification.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189" y="3844249"/>
            <a:ext cx="11277318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14284B"/>
                </a:solidFill>
                <a:latin typeface="Bitter Bold" pitchFamily="34" charset="0"/>
                <a:ea typeface="Bitter Bold" pitchFamily="34" charset="-122"/>
                <a:cs typeface="Bitter Bold" pitchFamily="34" charset="0"/>
              </a:rPr>
              <a:t>Corrections keep history; notifications keep secrets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57189" y="4301927"/>
            <a:ext cx="5486263" cy="2098873"/>
          </a:xfrm>
          <a:prstGeom prst="rect">
            <a:avLst/>
          </a:prstGeom>
          <a:solidFill>
            <a:srgbClr val="DAE5F0"/>
          </a:solidFill>
          <a:ln/>
        </p:spPr>
      </p:sp>
      <p:sp>
        <p:nvSpPr>
          <p:cNvPr id="14" name="Text 12"/>
          <p:cNvSpPr/>
          <p:nvPr/>
        </p:nvSpPr>
        <p:spPr>
          <a:xfrm>
            <a:off x="660383" y="4505127"/>
            <a:ext cx="835897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0"/>
              </a:rPr>
              <a:t>01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60383" y="4807347"/>
            <a:ext cx="2387540" cy="19050"/>
          </a:xfrm>
          <a:prstGeom prst="rect">
            <a:avLst/>
          </a:prstGeom>
          <a:solidFill>
            <a:srgbClr val="14284B"/>
          </a:solidFill>
          <a:ln/>
        </p:spPr>
      </p:sp>
      <p:sp>
        <p:nvSpPr>
          <p:cNvPr id="16" name="Text 14"/>
          <p:cNvSpPr/>
          <p:nvPr/>
        </p:nvSpPr>
        <p:spPr>
          <a:xfrm>
            <a:off x="660383" y="4960675"/>
            <a:ext cx="238754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Superseded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60383" y="5346998"/>
            <a:ext cx="238754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Older version marked; history retained.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352716" y="4505127"/>
            <a:ext cx="87885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14284B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0"/>
              </a:rPr>
              <a:t>02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3352716" y="4807347"/>
            <a:ext cx="2387540" cy="19050"/>
          </a:xfrm>
          <a:prstGeom prst="rect">
            <a:avLst/>
          </a:prstGeom>
          <a:solidFill>
            <a:srgbClr val="14284B"/>
          </a:solidFill>
          <a:ln/>
        </p:spPr>
      </p:sp>
      <p:sp>
        <p:nvSpPr>
          <p:cNvPr id="20" name="Text 18"/>
          <p:cNvSpPr/>
          <p:nvPr/>
        </p:nvSpPr>
        <p:spPr>
          <a:xfrm>
            <a:off x="3352716" y="4960675"/>
            <a:ext cx="238754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Corrected report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3352716" y="5346998"/>
            <a:ext cx="238754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Affected authorized recipients notified.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248244" y="4301927"/>
            <a:ext cx="5486263" cy="2098873"/>
          </a:xfrm>
          <a:prstGeom prst="rect">
            <a:avLst/>
          </a:prstGeom>
          <a:solidFill>
            <a:srgbClr val="EAF5F2"/>
          </a:solidFill>
          <a:ln/>
        </p:spPr>
      </p:sp>
      <p:sp>
        <p:nvSpPr>
          <p:cNvPr id="23" name="Text 21"/>
          <p:cNvSpPr/>
          <p:nvPr/>
        </p:nvSpPr>
        <p:spPr>
          <a:xfrm>
            <a:off x="6451439" y="4505127"/>
            <a:ext cx="5283068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spc="14" kern="100" dirty="0">
                <a:solidFill>
                  <a:srgbClr val="000000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Neutral lock-screen text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51439" y="4835446"/>
            <a:ext cx="5079873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“Your health records have an update. Open the app to review it.”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spc="14" kern="100" dirty="0">
                <a:solidFill>
                  <a:srgbClr val="14284B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Working prototype · Synthetic records only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189" y="779423"/>
            <a:ext cx="11277318" cy="453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34" kern="100" dirty="0">
                <a:solidFill>
                  <a:srgbClr val="14284B"/>
                </a:solidFill>
                <a:latin typeface="Bitter ExtraBold" pitchFamily="34" charset="0"/>
                <a:ea typeface="Bitter ExtraBold" pitchFamily="34" charset="-122"/>
                <a:cs typeface="Bitter ExtraBold" pitchFamily="34" charset="0"/>
              </a:rPr>
              <a:t>A feasible architecture for a working prototype</a:t>
            </a:r>
            <a:endParaRPr lang="en-US" sz="3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189" y="1381026"/>
            <a:ext cx="10096247" cy="3365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189" y="4924326"/>
            <a:ext cx="7315017" cy="1337270"/>
          </a:xfrm>
          <a:prstGeom prst="rect">
            <a:avLst/>
          </a:prstGeom>
          <a:solidFill>
            <a:srgbClr val="DAE5F0"/>
          </a:solidFill>
          <a:ln/>
        </p:spPr>
      </p:sp>
      <p:sp>
        <p:nvSpPr>
          <p:cNvPr id="6" name="Shape 3"/>
          <p:cNvSpPr/>
          <p:nvPr/>
        </p:nvSpPr>
        <p:spPr>
          <a:xfrm>
            <a:off x="457189" y="4924326"/>
            <a:ext cx="7315017" cy="38100"/>
          </a:xfrm>
          <a:prstGeom prst="rect">
            <a:avLst/>
          </a:prstGeom>
          <a:solidFill>
            <a:srgbClr val="14284B"/>
          </a:solidFill>
          <a:ln/>
        </p:spPr>
      </p:sp>
      <p:sp>
        <p:nvSpPr>
          <p:cNvPr id="7" name="Text 4"/>
          <p:cNvSpPr/>
          <p:nvPr/>
        </p:nvSpPr>
        <p:spPr>
          <a:xfrm>
            <a:off x="634984" y="5145023"/>
            <a:ext cx="6959426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Prototype stack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34984" y="5531346"/>
            <a:ext cx="6959426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React · Python FastAPI · PostgreSQL or SQLite · Tesseract OCR · hashing and text similarity · secure authentication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076998" y="4924326"/>
            <a:ext cx="3657509" cy="1337270"/>
          </a:xfrm>
          <a:prstGeom prst="rect">
            <a:avLst/>
          </a:prstGeom>
          <a:solidFill>
            <a:srgbClr val="EAF5F2"/>
          </a:solidFill>
          <a:ln/>
        </p:spPr>
      </p:sp>
      <p:sp>
        <p:nvSpPr>
          <p:cNvPr id="10" name="Shape 7"/>
          <p:cNvSpPr/>
          <p:nvPr/>
        </p:nvSpPr>
        <p:spPr>
          <a:xfrm>
            <a:off x="8076998" y="4924326"/>
            <a:ext cx="3657509" cy="38100"/>
          </a:xfrm>
          <a:prstGeom prst="rect">
            <a:avLst/>
          </a:prstGeom>
          <a:solidFill>
            <a:srgbClr val="14284B"/>
          </a:solidFill>
          <a:ln/>
        </p:spPr>
      </p:sp>
      <p:sp>
        <p:nvSpPr>
          <p:cNvPr id="11" name="Text 8"/>
          <p:cNvSpPr/>
          <p:nvPr/>
        </p:nvSpPr>
        <p:spPr>
          <a:xfrm>
            <a:off x="8254793" y="5145023"/>
            <a:ext cx="3301917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Integration boundary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254793" y="5531346"/>
            <a:ext cx="3301917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ABDM/ABHA integration is future work.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spc="14" kern="100" dirty="0">
                <a:solidFill>
                  <a:srgbClr val="14284B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Safety boundaries and evaluation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189" y="783931"/>
            <a:ext cx="11277318" cy="5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800" spc="-38" kern="100" dirty="0">
                <a:solidFill>
                  <a:srgbClr val="14284B"/>
                </a:solidFill>
                <a:latin typeface="Bitter ExtraBold" pitchFamily="34" charset="0"/>
                <a:ea typeface="Bitter ExtraBold" pitchFamily="34" charset="-122"/>
                <a:cs typeface="Bitter ExtraBold" pitchFamily="34" charset="0"/>
              </a:rPr>
              <a:t>Safe by design: not a diagnostic tool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189" y="1453455"/>
            <a:ext cx="5486263" cy="4947345"/>
          </a:xfrm>
          <a:prstGeom prst="rect">
            <a:avLst/>
          </a:prstGeom>
          <a:solidFill>
            <a:srgbClr val="EAF5F2"/>
          </a:solidFill>
          <a:ln/>
        </p:spPr>
      </p:sp>
      <p:sp>
        <p:nvSpPr>
          <p:cNvPr id="5" name="Shape 3"/>
          <p:cNvSpPr/>
          <p:nvPr/>
        </p:nvSpPr>
        <p:spPr>
          <a:xfrm>
            <a:off x="457189" y="1453455"/>
            <a:ext cx="5486263" cy="38100"/>
          </a:xfrm>
          <a:prstGeom prst="rect">
            <a:avLst/>
          </a:prstGeom>
          <a:solidFill>
            <a:srgbClr val="14284B"/>
          </a:solidFill>
          <a:ln/>
        </p:spPr>
      </p:sp>
      <p:sp>
        <p:nvSpPr>
          <p:cNvPr id="6" name="Text 4"/>
          <p:cNvSpPr/>
          <p:nvPr/>
        </p:nvSpPr>
        <p:spPr>
          <a:xfrm>
            <a:off x="685783" y="1726623"/>
            <a:ext cx="5029074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Bitter Bold" pitchFamily="34" charset="0"/>
                <a:ea typeface="Bitter Bold" pitchFamily="34" charset="-122"/>
                <a:cs typeface="Bitter Bold" pitchFamily="34" charset="0"/>
              </a:rPr>
              <a:t>Assistance stays source-grounded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783" y="2366898"/>
            <a:ext cx="5029074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“Do I have X?”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85783" y="2755920"/>
            <a:ext cx="5029074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Declines and prepares clinician questions, cited to source records.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85783" y="3739689"/>
            <a:ext cx="5029074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Abnormal flags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85783" y="4128710"/>
            <a:ext cx="5029074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Shown exactly as the source states them.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85783" y="4799445"/>
            <a:ext cx="5029074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Uncertain OCR text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85783" y="5188466"/>
            <a:ext cx="5029074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Marked uncertain, never guessed.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248244" y="1453455"/>
            <a:ext cx="5486263" cy="4947345"/>
          </a:xfrm>
          <a:prstGeom prst="rect">
            <a:avLst/>
          </a:prstGeom>
          <a:solidFill>
            <a:srgbClr val="DAE5F0"/>
          </a:solidFill>
          <a:ln/>
        </p:spPr>
      </p:sp>
      <p:sp>
        <p:nvSpPr>
          <p:cNvPr id="14" name="Shape 12"/>
          <p:cNvSpPr/>
          <p:nvPr/>
        </p:nvSpPr>
        <p:spPr>
          <a:xfrm>
            <a:off x="6248244" y="1453455"/>
            <a:ext cx="5486263" cy="38100"/>
          </a:xfrm>
          <a:prstGeom prst="rect">
            <a:avLst/>
          </a:prstGeom>
          <a:solidFill>
            <a:srgbClr val="14284B"/>
          </a:solidFill>
          <a:ln/>
        </p:spPr>
      </p:sp>
      <p:sp>
        <p:nvSpPr>
          <p:cNvPr id="15" name="Text 13"/>
          <p:cNvSpPr/>
          <p:nvPr/>
        </p:nvSpPr>
        <p:spPr>
          <a:xfrm>
            <a:off x="6476838" y="1726623"/>
            <a:ext cx="5029074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Bitter Bold" pitchFamily="34" charset="0"/>
                <a:ea typeface="Bitter Bold" pitchFamily="34" charset="-122"/>
                <a:cs typeface="Bitter Bold" pitchFamily="34" charset="0"/>
              </a:rPr>
              <a:t>Success targets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76838" y="2190968"/>
            <a:ext cx="5257668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To be measured during testing. No results claimed.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76838" y="2538611"/>
            <a:ext cx="5029074" cy="2656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Duplicate detection precision and recall on a seeded test set</a:t>
            </a:r>
            <a:endParaRPr lang="en-US" sz="1700" dirty="0"/>
          </a:p>
          <a:p>
            <a:pPr algn="l" marL="345440" indent="-345440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Zero silent merges; all originals retrievable</a:t>
            </a:r>
            <a:endParaRPr lang="en-US" sz="1700" dirty="0"/>
          </a:p>
          <a:p>
            <a:pPr algn="l" marL="345440" indent="-345440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Revocation tests: later access blocked, attempts logged</a:t>
            </a:r>
            <a:endParaRPr lang="en-US" sz="1700" dirty="0"/>
          </a:p>
          <a:p>
            <a:pPr algn="l" marL="345440" indent="-345440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Consent comprehension: share of non-technical users correctly identifying what, with whom, until when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85783" y="3550741"/>
            <a:ext cx="5029074" cy="12700"/>
          </a:xfrm>
          <a:prstGeom prst="rect">
            <a:avLst/>
          </a:prstGeom>
          <a:solidFill>
            <a:srgbClr val="14284B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783" y="4610497"/>
            <a:ext cx="5029074" cy="12700"/>
          </a:xfrm>
          <a:prstGeom prst="rect">
            <a:avLst/>
          </a:prstGeom>
          <a:solidFill>
            <a:srgbClr val="14284B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7670608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spc="14" kern="100" dirty="0">
                <a:solidFill>
                  <a:srgbClr val="14284B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Expected impact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189" y="783931"/>
            <a:ext cx="7213420" cy="5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800" spc="-38" kern="100" dirty="0">
                <a:solidFill>
                  <a:srgbClr val="14284B"/>
                </a:solidFill>
                <a:latin typeface="Bitter ExtraBold" pitchFamily="34" charset="0"/>
                <a:ea typeface="Bitter ExtraBold" pitchFamily="34" charset="-122"/>
                <a:cs typeface="Bitter ExtraBold" pitchFamily="34" charset="0"/>
              </a:rPr>
              <a:t>Expected impact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189" y="1453455"/>
            <a:ext cx="3530512" cy="2032298"/>
          </a:xfrm>
          <a:prstGeom prst="rect">
            <a:avLst/>
          </a:prstGeom>
          <a:solidFill>
            <a:srgbClr val="DAE5F0"/>
          </a:solidFill>
          <a:ln/>
        </p:spPr>
      </p:sp>
      <p:sp>
        <p:nvSpPr>
          <p:cNvPr id="5" name="Shape 3"/>
          <p:cNvSpPr/>
          <p:nvPr/>
        </p:nvSpPr>
        <p:spPr>
          <a:xfrm>
            <a:off x="457189" y="1453455"/>
            <a:ext cx="3530512" cy="38100"/>
          </a:xfrm>
          <a:prstGeom prst="rect">
            <a:avLst/>
          </a:prstGeom>
          <a:solidFill>
            <a:srgbClr val="14284B"/>
          </a:solidFill>
          <a:ln/>
        </p:spPr>
      </p:sp>
      <p:sp>
        <p:nvSpPr>
          <p:cNvPr id="6" name="Text 4"/>
          <p:cNvSpPr/>
          <p:nvPr/>
        </p:nvSpPr>
        <p:spPr>
          <a:xfrm>
            <a:off x="660383" y="1701223"/>
            <a:ext cx="3124122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Bitter Bold" pitchFamily="34" charset="0"/>
                <a:ea typeface="Bitter Bold" pitchFamily="34" charset="-122"/>
                <a:cs typeface="Bitter Bold" pitchFamily="34" charset="0"/>
              </a:rPr>
              <a:t>Longitudinal records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60383" y="2161599"/>
            <a:ext cx="3124122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Better-organized longitudinal records.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140096" y="1453455"/>
            <a:ext cx="3530512" cy="2032298"/>
          </a:xfrm>
          <a:prstGeom prst="rect">
            <a:avLst/>
          </a:prstGeom>
          <a:solidFill>
            <a:srgbClr val="DAE5F0"/>
          </a:solidFill>
          <a:ln/>
        </p:spPr>
      </p:sp>
      <p:sp>
        <p:nvSpPr>
          <p:cNvPr id="9" name="Shape 7"/>
          <p:cNvSpPr/>
          <p:nvPr/>
        </p:nvSpPr>
        <p:spPr>
          <a:xfrm>
            <a:off x="4140096" y="1453455"/>
            <a:ext cx="3530512" cy="38100"/>
          </a:xfrm>
          <a:prstGeom prst="rect">
            <a:avLst/>
          </a:prstGeom>
          <a:solidFill>
            <a:srgbClr val="14284B"/>
          </a:solidFill>
          <a:ln/>
        </p:spPr>
      </p:sp>
      <p:sp>
        <p:nvSpPr>
          <p:cNvPr id="10" name="Text 8"/>
          <p:cNvSpPr/>
          <p:nvPr/>
        </p:nvSpPr>
        <p:spPr>
          <a:xfrm>
            <a:off x="4343291" y="1701223"/>
            <a:ext cx="3124122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Bitter Bold" pitchFamily="34" charset="0"/>
                <a:ea typeface="Bitter Bold" pitchFamily="34" charset="-122"/>
                <a:cs typeface="Bitter Bold" pitchFamily="34" charset="0"/>
              </a:rPr>
              <a:t>Visible evidence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343291" y="2161599"/>
            <a:ext cx="3124122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Transparent provenance and fewer unnoticed conflicts.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57189" y="3638153"/>
            <a:ext cx="3530512" cy="2032397"/>
          </a:xfrm>
          <a:prstGeom prst="rect">
            <a:avLst/>
          </a:prstGeom>
          <a:solidFill>
            <a:srgbClr val="EAF5F2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189" y="3638153"/>
            <a:ext cx="3530512" cy="38100"/>
          </a:xfrm>
          <a:prstGeom prst="rect">
            <a:avLst/>
          </a:prstGeom>
          <a:solidFill>
            <a:srgbClr val="14284B"/>
          </a:solidFill>
          <a:ln/>
        </p:spPr>
      </p:sp>
      <p:sp>
        <p:nvSpPr>
          <p:cNvPr id="14" name="Text 12"/>
          <p:cNvSpPr/>
          <p:nvPr/>
        </p:nvSpPr>
        <p:spPr>
          <a:xfrm>
            <a:off x="660383" y="3885921"/>
            <a:ext cx="3124122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Bitter Bold" pitchFamily="34" charset="0"/>
                <a:ea typeface="Bitter Bold" pitchFamily="34" charset="-122"/>
                <a:cs typeface="Bitter Bold" pitchFamily="34" charset="0"/>
              </a:rPr>
              <a:t>Accountable access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60383" y="4346297"/>
            <a:ext cx="3124122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Understandable consent and accountable access.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140096" y="3638153"/>
            <a:ext cx="3530512" cy="2032397"/>
          </a:xfrm>
          <a:prstGeom prst="rect">
            <a:avLst/>
          </a:prstGeom>
          <a:solidFill>
            <a:srgbClr val="EAF5F2"/>
          </a:solidFill>
          <a:ln/>
        </p:spPr>
      </p:sp>
      <p:sp>
        <p:nvSpPr>
          <p:cNvPr id="17" name="Shape 15"/>
          <p:cNvSpPr/>
          <p:nvPr/>
        </p:nvSpPr>
        <p:spPr>
          <a:xfrm>
            <a:off x="4140096" y="3638153"/>
            <a:ext cx="3530512" cy="38100"/>
          </a:xfrm>
          <a:prstGeom prst="rect">
            <a:avLst/>
          </a:prstGeom>
          <a:solidFill>
            <a:srgbClr val="14284B"/>
          </a:solidFill>
          <a:ln/>
        </p:spPr>
      </p:sp>
      <p:sp>
        <p:nvSpPr>
          <p:cNvPr id="18" name="Text 16"/>
          <p:cNvSpPr/>
          <p:nvPr/>
        </p:nvSpPr>
        <p:spPr>
          <a:xfrm>
            <a:off x="4343291" y="3885921"/>
            <a:ext cx="3124122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Bitter Bold" pitchFamily="34" charset="0"/>
                <a:ea typeface="Bitter Bold" pitchFamily="34" charset="-122"/>
                <a:cs typeface="Bitter Bold" pitchFamily="34" charset="0"/>
              </a:rPr>
              <a:t>Prepared consultations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343291" y="4346297"/>
            <a:ext cx="3124122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Safer caregiver workflows and better-prepared consultations.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57189" y="5848350"/>
            <a:ext cx="721342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14284B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“Organize the information. Preserve the evidence. Empower the patient. Leave diagnosis to the clinician.”</a:t>
            </a:r>
            <a:endParaRPr lang="en-US" sz="15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797" y="0"/>
            <a:ext cx="4063898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2026-10-24T07:25:16Z</dcterms:created>
  <dcterms:modified xsi:type="dcterms:W3CDTF">2026-10-24T07:25:16Z</dcterms:modified>
</cp:coreProperties>
</file>