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ormorant Garamond SemiBold"/>
      <p:regular r:id="rId201314"/>
    </p:embeddedFont>
    <p:embeddedFont>
      <p:font typeface="Figtree"/>
      <p:regular r:id="rId201315"/>
    </p:embeddedFont>
    <p:embeddedFont>
      <p:font typeface="Figtree Medium"/>
      <p:regular r:id="rId201316"/>
    </p:embeddedFont>
    <p:embeddedFont>
      <p:font typeface="Figtree SemiBold"/>
      <p:regular r:id="rId201317"/>
    </p:embeddedFont>
    <p:embeddedFont>
      <p:font typeface="Figtre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89458" cy="6858000"/>
          </a:xfrm>
          <a:prstGeom prst="rect">
            <a:avLst/>
          </a:prstGeom>
          <a:solidFill>
            <a:srgbClr val="123E35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613093"/>
            <a:ext cx="523226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Figtree Medium" pitchFamily="34" charset="0"/>
                <a:ea typeface="Figtree Medium" pitchFamily="34" charset="-122"/>
                <a:cs typeface="Figtree Medium" pitchFamily="34" charset="0"/>
              </a:rPr>
              <a:t>PATIENT-CONTROLLED HEALTH DATA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189" y="1013504"/>
            <a:ext cx="4775081" cy="747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400" spc="-160" kern="100" dirty="0">
                <a:solidFill>
                  <a:srgbClr val="FFFFFF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0"/>
              </a:rPr>
              <a:t>WELLORA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457189" y="2022773"/>
            <a:ext cx="1193671" cy="38100"/>
          </a:xfrm>
          <a:prstGeom prst="roundRect">
            <a:avLst>
              <a:gd name="adj" fmla="val 49999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457189" y="2597448"/>
            <a:ext cx="477508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10" kern="1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“Your health story,</a:t>
            </a:r>
            <a:endParaRPr lang="en-US" sz="2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000" spc="-10" kern="1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all in one place.”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189" y="4892913"/>
            <a:ext cx="4775081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IMPACTX 2026 | Challenge 07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A Better Digital Health Journey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189" y="5750719"/>
            <a:ext cx="477508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An existing interactive prototype, shown with synthetic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89458" y="0"/>
            <a:ext cx="6502237" cy="6858000"/>
          </a:xfrm>
          <a:prstGeom prst="rect">
            <a:avLst/>
          </a:prstGeom>
          <a:solidFill>
            <a:srgbClr val="EDF7F3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2202160"/>
            <a:ext cx="5689458" cy="2453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36613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123E35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0"/>
              </a:rPr>
              <a:t>A fragmented patient journey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495425"/>
            <a:ext cx="5728350" cy="3588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98219" y="1495425"/>
            <a:ext cx="4380696" cy="2325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Records scattered across paper files, scans, portals and provider systems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Duplicates and conflicting dates blur the original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Handwritten prescriptions and imperfect OCR leave doses uncertain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Sharing can expose more than intended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12780" y="5593159"/>
            <a:ext cx="10566136" cy="960041"/>
          </a:xfrm>
          <a:prstGeom prst="rect">
            <a:avLst/>
          </a:prstGeom>
          <a:solidFill>
            <a:srgbClr val="EDF7F3"/>
          </a:solidFill>
          <a:ln/>
        </p:spPr>
      </p:sp>
      <p:sp>
        <p:nvSpPr>
          <p:cNvPr id="6" name="Text 3"/>
          <p:cNvSpPr/>
          <p:nvPr/>
        </p:nvSpPr>
        <p:spPr>
          <a:xfrm>
            <a:off x="1041374" y="5771594"/>
            <a:ext cx="1010894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Patients struggle to organize history; clinicians reconcile documents; sensitive data is shared without clear boundaries.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36613"/>
            <a:ext cx="914377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123E35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0"/>
              </a:rPr>
              <a:t>Storing documents is not the same as organizing a health history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80" y="1898968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Conceptual comparison, not a claim about every existing app.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2780" y="2364085"/>
            <a:ext cx="5130672" cy="3709987"/>
          </a:xfrm>
          <a:prstGeom prst="rect">
            <a:avLst/>
          </a:prstGeom>
          <a:solidFill>
            <a:srgbClr val="F3F6F4"/>
          </a:solidFill>
          <a:ln/>
        </p:spPr>
      </p:sp>
      <p:sp>
        <p:nvSpPr>
          <p:cNvPr id="5" name="Text 3"/>
          <p:cNvSpPr/>
          <p:nvPr/>
        </p:nvSpPr>
        <p:spPr>
          <a:xfrm>
            <a:off x="1117572" y="2465685"/>
            <a:ext cx="452108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Conventional storage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17572" y="3026073"/>
            <a:ext cx="4521087" cy="31651"/>
          </a:xfrm>
          <a:prstGeom prst="roundRect">
            <a:avLst>
              <a:gd name="adj" fmla="val 49998"/>
            </a:avLst>
          </a:prstGeom>
          <a:solidFill>
            <a:srgbClr val="7A5C60"/>
          </a:solidFill>
          <a:ln/>
        </p:spPr>
      </p:sp>
      <p:sp>
        <p:nvSpPr>
          <p:cNvPr id="7" name="Text 5"/>
          <p:cNvSpPr/>
          <p:nvPr/>
        </p:nvSpPr>
        <p:spPr>
          <a:xfrm>
            <a:off x="1117572" y="3275310"/>
            <a:ext cx="4521087" cy="1790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Stores uploaded files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Dates and sources hard to compare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Little context on suspected duplicates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Access scope and duration unclear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Corrections and past shares uncertain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8244" y="2364085"/>
            <a:ext cx="5130672" cy="3709987"/>
          </a:xfrm>
          <a:prstGeom prst="rect">
            <a:avLst/>
          </a:prstGeom>
          <a:solidFill>
            <a:srgbClr val="EDF7F3"/>
          </a:solidFill>
          <a:ln/>
        </p:spPr>
      </p:sp>
      <p:sp>
        <p:nvSpPr>
          <p:cNvPr id="9" name="Text 7"/>
          <p:cNvSpPr/>
          <p:nvPr/>
        </p:nvSpPr>
        <p:spPr>
          <a:xfrm>
            <a:off x="6553036" y="2465685"/>
            <a:ext cx="452108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Wellora’s approach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53036" y="3026073"/>
            <a:ext cx="4521087" cy="31651"/>
          </a:xfrm>
          <a:prstGeom prst="roundRect">
            <a:avLst>
              <a:gd name="adj" fmla="val 49998"/>
            </a:avLst>
          </a:prstGeom>
          <a:solidFill>
            <a:srgbClr val="420C1C"/>
          </a:solidFill>
          <a:ln/>
        </p:spPr>
      </p:sp>
      <p:sp>
        <p:nvSpPr>
          <p:cNvPr id="11" name="Text 9"/>
          <p:cNvSpPr/>
          <p:nvPr/>
        </p:nvSpPr>
        <p:spPr>
          <a:xfrm>
            <a:off x="6553036" y="3275310"/>
            <a:ext cx="4521087" cy="269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Preserves source and separate dates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Flags conflicts; links duplicates; keeps originals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Shows recipient, purpose, permissions and duration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Tracks access and supersession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Prepares clinician questions without diagnosing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36613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123E35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0"/>
              </a:rPr>
              <a:t>Who benefits, with the patient at the center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466850"/>
            <a:ext cx="10472277" cy="42544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780" y="5975886"/>
            <a:ext cx="111757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Wellora does not replace EHR systems or clinical judgment.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36613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123E35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0"/>
              </a:rPr>
              <a:t>Meet Rohan: one health history, three providers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80" y="1498918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Synthetic patient. Demonstration records only, not real data. Providers in Delhi and Bengaluru.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12780" y="1964035"/>
            <a:ext cx="5054474" cy="4081165"/>
          </a:xfrm>
          <a:prstGeom prst="rect">
            <a:avLst/>
          </a:prstGeom>
          <a:solidFill>
            <a:srgbClr val="EDF7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975" y="2969816"/>
            <a:ext cx="4648084" cy="20696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24442" y="1964035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7" name="Text 4"/>
          <p:cNvSpPr/>
          <p:nvPr/>
        </p:nvSpPr>
        <p:spPr>
          <a:xfrm>
            <a:off x="6468107" y="2044998"/>
            <a:ext cx="70007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918152" y="2001183"/>
            <a:ext cx="446076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Care from three providers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324442" y="2359025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10" name="Text 7"/>
          <p:cNvSpPr/>
          <p:nvPr/>
        </p:nvSpPr>
        <p:spPr>
          <a:xfrm>
            <a:off x="6451637" y="2439988"/>
            <a:ext cx="7329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918152" y="2396173"/>
            <a:ext cx="446076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Two reports for one test show inconsistent report dates; one is a re-uploaded scan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324442" y="3017242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13" name="Text 10"/>
          <p:cNvSpPr/>
          <p:nvPr/>
        </p:nvSpPr>
        <p:spPr>
          <a:xfrm>
            <a:off x="6453820" y="3098205"/>
            <a:ext cx="72854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3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918152" y="3054390"/>
            <a:ext cx="446076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A handwritten prescription has an uncertain dosage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324442" y="3675459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16" name="Text 13"/>
          <p:cNvSpPr/>
          <p:nvPr/>
        </p:nvSpPr>
        <p:spPr>
          <a:xfrm>
            <a:off x="6445486" y="3756422"/>
            <a:ext cx="74521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4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918152" y="3712607"/>
            <a:ext cx="446076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A specialist requests selected records for seven days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324442" y="4333677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19" name="Text 16"/>
          <p:cNvSpPr/>
          <p:nvPr/>
        </p:nvSpPr>
        <p:spPr>
          <a:xfrm>
            <a:off x="6450943" y="4414639"/>
            <a:ext cx="73439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5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918152" y="4370824"/>
            <a:ext cx="446076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An older relative helps as a limited-permission caregiver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324442" y="4991894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22" name="Text 19"/>
          <p:cNvSpPr/>
          <p:nvPr/>
        </p:nvSpPr>
        <p:spPr>
          <a:xfrm>
            <a:off x="6451339" y="5072856"/>
            <a:ext cx="73360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6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918152" y="5029041"/>
            <a:ext cx="446076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Simulated emergency access for an unconscious patient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324442" y="5650111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25" name="Text 22"/>
          <p:cNvSpPr/>
          <p:nvPr/>
        </p:nvSpPr>
        <p:spPr>
          <a:xfrm>
            <a:off x="6454117" y="5731073"/>
            <a:ext cx="72795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7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6918152" y="5687259"/>
            <a:ext cx="446076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A provider corrects a previously shared report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36613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123E35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0"/>
              </a:rPr>
              <a:t>A clearer timeline without rewriting the medical history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780" y="1724025"/>
            <a:ext cx="114297" cy="764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1142971" y="1726202"/>
            <a:ext cx="37133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spc="-8" kern="100" dirty="0">
                <a:solidFill>
                  <a:srgbClr val="123E35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Event date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42971" y="2186920"/>
            <a:ext cx="37133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When the medical event occurred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780" y="2640905"/>
            <a:ext cx="114297" cy="1066701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142971" y="2643083"/>
            <a:ext cx="37133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spc="-8" kern="100" dirty="0">
                <a:solidFill>
                  <a:srgbClr val="123E35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Report date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2971" y="3103801"/>
            <a:ext cx="3713367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When the provider issued or recorded the report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2780" y="3860006"/>
            <a:ext cx="114297" cy="76448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142971" y="3862183"/>
            <a:ext cx="371336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spc="-8" kern="100" dirty="0">
                <a:solidFill>
                  <a:srgbClr val="123E35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Upload date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2971" y="4322901"/>
            <a:ext cx="371336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When the document entered Wellora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2780" y="4789587"/>
            <a:ext cx="404355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Provider, source and location shown where available. Conflicts stay visible until reviewed; originals remain accessible.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13428" y="1495425"/>
            <a:ext cx="6065388" cy="4269284"/>
          </a:xfrm>
          <a:prstGeom prst="rect">
            <a:avLst/>
          </a:prstGeom>
          <a:solidFill>
            <a:srgbClr val="EDF7F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6623" y="2326680"/>
            <a:ext cx="5658998" cy="260667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2780" y="6019344"/>
            <a:ext cx="111757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A re-uploaded scan never silently changes the historical event date.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36613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123E35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0"/>
              </a:rPr>
              <a:t>Wellora identifies uncertainty; it does not invent certainty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780" y="1495425"/>
            <a:ext cx="5130672" cy="1620441"/>
          </a:xfrm>
          <a:prstGeom prst="rect">
            <a:avLst/>
          </a:prstGeom>
          <a:solidFill>
            <a:srgbClr val="F3F6F4"/>
          </a:solidFill>
          <a:ln/>
        </p:spPr>
      </p:sp>
      <p:sp>
        <p:nvSpPr>
          <p:cNvPr id="4" name="Text 2"/>
          <p:cNvSpPr/>
          <p:nvPr/>
        </p:nvSpPr>
        <p:spPr>
          <a:xfrm>
            <a:off x="1066773" y="1749425"/>
            <a:ext cx="46226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Synthetic lab report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6773" y="2258060"/>
            <a:ext cx="462268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Test names · report identifiers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Dates · text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48244" y="1495425"/>
            <a:ext cx="5130672" cy="1620441"/>
          </a:xfrm>
          <a:prstGeom prst="rect">
            <a:avLst/>
          </a:prstGeom>
          <a:solidFill>
            <a:srgbClr val="EDF7F3"/>
          </a:solidFill>
          <a:ln/>
        </p:spPr>
      </p:sp>
      <p:sp>
        <p:nvSpPr>
          <p:cNvPr id="7" name="Text 5"/>
          <p:cNvSpPr/>
          <p:nvPr/>
        </p:nvSpPr>
        <p:spPr>
          <a:xfrm>
            <a:off x="6502237" y="1749425"/>
            <a:ext cx="46226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10" kern="1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Similar synthetic lab report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02237" y="2258060"/>
            <a:ext cx="462268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Similarity evidence shown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Conflicting fields identified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780" y="3369866"/>
            <a:ext cx="83937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01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2780" y="3672086"/>
            <a:ext cx="1869433" cy="1905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812780" y="3822794"/>
            <a:ext cx="186943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spc="-8" kern="100" dirty="0">
                <a:solidFill>
                  <a:srgbClr val="123E35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Detect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2780" y="4282877"/>
            <a:ext cx="186943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Possible duplicate or near-duplicate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86906" y="3369866"/>
            <a:ext cx="87221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86906" y="3672086"/>
            <a:ext cx="1869433" cy="1905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2986906" y="3822794"/>
            <a:ext cx="186943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spc="-8" kern="100" dirty="0">
                <a:solidFill>
                  <a:srgbClr val="123E35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Compare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86906" y="4282877"/>
            <a:ext cx="186943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Show similarity evidence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61032" y="3369866"/>
            <a:ext cx="86784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161032" y="3672086"/>
            <a:ext cx="1869433" cy="1905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5161032" y="3822794"/>
            <a:ext cx="1869532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spc="-8" kern="100" dirty="0">
                <a:solidFill>
                  <a:srgbClr val="123E35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Flag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61032" y="4282877"/>
            <a:ext cx="186953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Identify conflicting fields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35257" y="3369866"/>
            <a:ext cx="88451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04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335257" y="3672086"/>
            <a:ext cx="1869433" cy="1905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7335257" y="3822794"/>
            <a:ext cx="186943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spc="-8" kern="100" dirty="0">
                <a:solidFill>
                  <a:srgbClr val="123E35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Review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335257" y="4282877"/>
            <a:ext cx="186943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Reviewer chooses “Keep both and link”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09383" y="3369866"/>
            <a:ext cx="87369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05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509383" y="3672086"/>
            <a:ext cx="1869433" cy="1905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383" y="3822794"/>
            <a:ext cx="186943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spc="-8" kern="100" dirty="0">
                <a:solidFill>
                  <a:srgbClr val="123E35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Preserve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509383" y="4282877"/>
            <a:ext cx="186943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Originals and provenance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780" y="5441394"/>
            <a:ext cx="1056613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Uncertain prescription OCR stays marked uncertain. The patient gets a clinician question, never a guessed dose.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36613"/>
            <a:ext cx="914377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123E35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0"/>
              </a:rPr>
              <a:t>Consent that is understandable, specific, time-limited and revocable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780" y="1895475"/>
            <a:ext cx="5054474" cy="4149725"/>
          </a:xfrm>
          <a:prstGeom prst="rect">
            <a:avLst/>
          </a:prstGeom>
          <a:solidFill>
            <a:srgbClr val="EDF7F3"/>
          </a:solidFill>
          <a:ln/>
        </p:spPr>
      </p:sp>
      <p:sp>
        <p:nvSpPr>
          <p:cNvPr id="4" name="Text 2"/>
          <p:cNvSpPr/>
          <p:nvPr/>
        </p:nvSpPr>
        <p:spPr>
          <a:xfrm>
            <a:off x="1142971" y="2229168"/>
            <a:ext cx="472428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Medium" pitchFamily="34" charset="0"/>
                <a:ea typeface="Figtree Medium" pitchFamily="34" charset="-122"/>
                <a:cs typeface="Figtree Medium" pitchFamily="34" charset="0"/>
              </a:rPr>
              <a:t>CONSENT RECEIPT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2971" y="2609640"/>
            <a:ext cx="4394090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4800" spc="-120" kern="100" dirty="0">
                <a:solidFill>
                  <a:srgbClr val="000000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0"/>
              </a:rPr>
              <a:t>Seven days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2971" y="3450332"/>
            <a:ext cx="4393991" cy="31651"/>
          </a:xfrm>
          <a:prstGeom prst="roundRect">
            <a:avLst>
              <a:gd name="adj" fmla="val 49998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1142971" y="3700205"/>
            <a:ext cx="439409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“Selected laboratory reports shared with Dr. Mehta for a medical consultation until the stated expiry date.”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2971" y="5217319"/>
            <a:ext cx="439409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Patient sets records, recipient, purpose and duration; sees whether access expired or was revoked.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4442" y="2124075"/>
            <a:ext cx="50544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10" kern="100" dirty="0">
                <a:solidFill>
                  <a:srgbClr val="123E35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Reviewable access history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24442" y="2632710"/>
            <a:ext cx="505447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Revoking stops future access through Wellora.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24442" y="3188295"/>
            <a:ext cx="50544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10" kern="100" dirty="0">
                <a:solidFill>
                  <a:srgbClr val="123E35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Copies already retained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24442" y="3696930"/>
            <a:ext cx="505447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Revocation cannot guarantee deletion of copies already downloaded or retained.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24442" y="4554736"/>
            <a:ext cx="50544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spc="-10" kern="100" dirty="0">
                <a:solidFill>
                  <a:srgbClr val="123E35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Sensitive categories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4442" y="5063371"/>
            <a:ext cx="505447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Excluded from shared views and notifications by default unless explicitly authorized.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36613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spc="-45" kern="100" dirty="0">
                <a:solidFill>
                  <a:srgbClr val="123E35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0"/>
              </a:rPr>
              <a:t>Care when needed, accountability at every step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80" y="1496060"/>
            <a:ext cx="1056613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Caregivers see only explicitly permitted records or tasks. Patients see their actions; sensitive categories require extra confirmation. No automatic full history.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2780" y="2353866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5" name="Text 3"/>
          <p:cNvSpPr/>
          <p:nvPr/>
        </p:nvSpPr>
        <p:spPr>
          <a:xfrm>
            <a:off x="956445" y="2434828"/>
            <a:ext cx="70007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06490" y="2391013"/>
            <a:ext cx="997242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Authorized emergency user authenticates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780" y="2884091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8" name="Text 6"/>
          <p:cNvSpPr/>
          <p:nvPr/>
        </p:nvSpPr>
        <p:spPr>
          <a:xfrm>
            <a:off x="939975" y="2965053"/>
            <a:ext cx="7329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06490" y="2921238"/>
            <a:ext cx="997242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Supplies a reason; requests predefined scope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2780" y="3414316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11" name="Text 9"/>
          <p:cNvSpPr/>
          <p:nvPr/>
        </p:nvSpPr>
        <p:spPr>
          <a:xfrm>
            <a:off x="942158" y="3495278"/>
            <a:ext cx="72854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06490" y="3451463"/>
            <a:ext cx="997242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Authorization rules decide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2780" y="3944541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14" name="Text 12"/>
          <p:cNvSpPr/>
          <p:nvPr/>
        </p:nvSpPr>
        <p:spPr>
          <a:xfrm>
            <a:off x="933824" y="4025503"/>
            <a:ext cx="74521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06490" y="3981688"/>
            <a:ext cx="997242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Time-limited, audit-logged access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2780" y="4474766"/>
            <a:ext cx="377816" cy="377825"/>
          </a:xfrm>
          <a:prstGeom prst="roundRect">
            <a:avLst>
              <a:gd name="adj" fmla="val 17143"/>
            </a:avLst>
          </a:prstGeom>
          <a:solidFill>
            <a:srgbClr val="C98E8E"/>
          </a:solidFill>
          <a:ln/>
        </p:spPr>
      </p:sp>
      <p:sp>
        <p:nvSpPr>
          <p:cNvPr id="17" name="Text 15"/>
          <p:cNvSpPr/>
          <p:nvPr/>
        </p:nvSpPr>
        <p:spPr>
          <a:xfrm>
            <a:off x="939280" y="4555728"/>
            <a:ext cx="73439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Figtree SemiBold" pitchFamily="34" charset="0"/>
                <a:ea typeface="Figtree SemiBold" pitchFamily="34" charset="-122"/>
                <a:cs typeface="Figtree SemiBold" pitchFamily="34" charset="0"/>
              </a:rPr>
              <a:t>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06490" y="4511913"/>
            <a:ext cx="997242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Patient notified afterward when possible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2780" y="5107226"/>
            <a:ext cx="111757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Emergency access is not unrestricted. Simulated in the prototype; no production hospital integration.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2016443"/>
            <a:ext cx="9143771" cy="192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spc="-72" kern="100" dirty="0">
                <a:solidFill>
                  <a:srgbClr val="123E35"/>
                </a:solidFill>
                <a:latin typeface="Cormorant Garamond SemiBold" pitchFamily="34" charset="0"/>
                <a:ea typeface="Cormorant Garamond SemiBold" pitchFamily="34" charset="-122"/>
                <a:cs typeface="Cormorant Garamond SemiBold" pitchFamily="34" charset="0"/>
              </a:rPr>
              <a:t>Organize the information. Preserve the evidence. Empower the patient. Leave diagnosis to the clinician.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812780" y="4236343"/>
            <a:ext cx="2641435" cy="31651"/>
          </a:xfrm>
          <a:prstGeom prst="roundRect">
            <a:avLst>
              <a:gd name="adj" fmla="val 49998"/>
            </a:avLst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812780" y="4575116"/>
            <a:ext cx="111757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3E35"/>
                </a:solidFill>
                <a:latin typeface="Figtree" pitchFamily="34" charset="0"/>
                <a:ea typeface="Figtree" pitchFamily="34" charset="-122"/>
                <a:cs typeface="Figtree" pitchFamily="34" charset="0"/>
              </a:rPr>
              <a:t>WELLORA: Your health story, all in one place.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2026-10-24T18:03:16Z</dcterms:created>
  <dcterms:modified xsi:type="dcterms:W3CDTF">2026-10-24T18:03:16Z</dcterms:modified>
</cp:coreProperties>
</file>